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DB Tables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A855F7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Social
(6)</c:v>
                </c:pt>
                <c:pt idx="1">
                  <c:v>Company
(8)</c:v>
                </c:pt>
                <c:pt idx="2">
                  <c:v>AI &amp; Tasks
(10)</c:v>
                </c:pt>
                <c:pt idx="3">
                  <c:v>Billing
(5)</c:v>
                </c:pt>
                <c:pt idx="4">
                  <c:v>Comms
(7)</c:v>
                </c:pt>
                <c:pt idx="5">
                  <c:v>Other
(6)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</c:v>
                </c:pt>
                <c:pt idx="1">
                  <c:v>8</c:v>
                </c:pt>
                <c:pt idx="2">
                  <c:v>10</c:v>
                </c:pt>
                <c:pt idx="3">
                  <c:v>5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-457200"/>
            <a:ext cx="5029200" cy="6400800"/>
          </a:xfrm>
          <a:prstGeom prst="rect">
            <a:avLst/>
          </a:prstGeom>
          <a:solidFill>
            <a:srgbClr val="0A1E3C"/>
          </a:solidFill>
          <a:ln w="12700">
            <a:solidFill>
              <a:srgbClr val="0A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600000">
            <a:off x="6400800" y="1828800"/>
            <a:ext cx="4572000" cy="5486400"/>
          </a:xfrm>
          <a:prstGeom prst="rect">
            <a:avLst/>
          </a:prstGeom>
          <a:solidFill>
            <a:srgbClr val="091830"/>
          </a:solidFill>
          <a:ln w="12700">
            <a:solidFill>
              <a:srgbClr val="0918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152144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0"/>
            <a:ext cx="1152144" cy="73152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1152144" cy="73152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0"/>
            <a:ext cx="1152144" cy="73152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1152144" cy="73152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0"/>
            <a:ext cx="115214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1152144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0"/>
            <a:ext cx="1152144" cy="73152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502920" y="114300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 rot="2700000">
            <a:off x="777240" y="114300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 rot="2700000">
            <a:off x="640080" y="96012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ALLOUL&amp;Q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الأعمال الذكية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Business Platform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متكامل للشركات — موبايل · ويب · API · ذكاء اصطناعي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2026 · Confidential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1600200" cy="3200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80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React Native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76272" y="4480560"/>
            <a:ext cx="1600200" cy="3200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6272" y="4480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FastAPI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95344" y="4480560"/>
            <a:ext cx="1600200" cy="3200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5344" y="4480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Next.js 14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14416" y="4480560"/>
            <a:ext cx="1600200" cy="3200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14416" y="4480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AI / Claude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33488" y="4480560"/>
            <a:ext cx="1600200" cy="32004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3488" y="4480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Stripe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المحتويات  /  Agenda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960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نظرة عامة على المنصة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Platform Overview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1554480"/>
            <a:ext cx="35661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77393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73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1728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المشكلة والحل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002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Problem &amp; 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322576"/>
            <a:ext cx="35661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4203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496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الميزات الرئيسية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770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Core Features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3090672"/>
            <a:ext cx="35661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1012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264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التقنيات المستخدمة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538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3858768"/>
            <a:ext cx="35661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7822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032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نظام الذكاء الاصطناعي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System (3-Tier)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0058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960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البنية التحتية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0" y="1554480"/>
            <a:ext cx="35661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177393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773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1728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خطط الاشتراك والأسعار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2002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Pricing Plans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03520" y="2322576"/>
            <a:ext cx="35661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254203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49240" y="2496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قاعدة البيانات والمقاييس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349240" y="2770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Database &amp; Scale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03520" y="3090672"/>
            <a:ext cx="35661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31012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49240" y="3264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حالة المشروع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49240" y="35387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Project Status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303520" y="3858768"/>
            <a:ext cx="35661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407822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49240" y="4032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خارطة الطريق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34924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Roadmap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</a:rPr>
              <a:t>01  نظرة عامة على المنصة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</a:rPr>
              <a:t>ALLOUL&amp;Q — منصة أعمال متكاملة تجمع الفريق والعمليات والذكاء الاصطناعي في مكان واحد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32588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</a:rPr>
              <a:t>29,120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سطر برمجي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161 ملف TypeScript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325880"/>
            <a:ext cx="26974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</a:rPr>
              <a:t>42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33756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نموذج بيانات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23774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قاعدة بيانات شاملة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3258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325880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33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21792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</a:rPr>
              <a:t>نقطة 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23774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Backend FastAPI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0"/>
                </a:solidFill>
              </a:rPr>
              <a:t>مكونات المنصة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43000" y="3401568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</a:rPr>
              <a:t>تطبيق الجوال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416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Native + Expo SDK 54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iOS &amp; Android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33472" y="329184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19272" y="340156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9272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33472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</a:rPr>
              <a:t>واجهة الويب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33472" y="4416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Next.js 14 App 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Tailwind CSS RTL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9744" y="329184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95544" y="3401568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95544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9744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</a:rPr>
              <a:t>الخادم الخلفي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09744" y="4416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FastAPI Python 3.11+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33 Router + SQLAlchemy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86016" y="329184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671816" y="340156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71816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86016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</a:rPr>
              <a:t>الذكاء الاصطناعي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86016" y="4416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Claude + Ollama + HF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نظام ثلاثي المستويات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المشكلة والحل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65760" y="822960"/>
            <a:ext cx="3931920" cy="4023360"/>
          </a:xfrm>
          <a:prstGeom prst="rect">
            <a:avLst/>
          </a:prstGeom>
          <a:solidFill>
            <a:srgbClr val="132038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822960"/>
            <a:ext cx="39319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5A5"/>
                </a:solidFill>
              </a:rPr>
              <a:t>❌  المشكلة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1463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— أدوات متعددة ومتفرقة (واتساب، جداول، مشاركات ملفات)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19933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— ضياع المعلومات عند تسليم المهام بين الأقسام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5237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— لا يوجد نظام CRM متكامل مع الفريق الداخلي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0540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— غياب الذكاء الاصطناعي في العمليات اليومية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— صعوبة متابعة الصفقات والمشاريع في مكان واحد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822960"/>
            <a:ext cx="3931920" cy="402336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822960"/>
            <a:ext cx="3931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</a:rPr>
              <a:t>✅  الحل: ALLOUL&amp;Q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1463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منصة موحدة: موبايل + ويب + API في مكان واحد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19933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نظام تسليم مهام ذكي مع تتبع كامل للسياق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5237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CRM متكامل مع إدارة الفريق والتواصل الداخلي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0540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ذكاء اصطناعي ثلاثي المستويات (Claude + Ollama + HF)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5844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لوحة تحكم شاملة للصفقات والمشاريع والتقارير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70832" y="2697480"/>
            <a:ext cx="411480" cy="9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2468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</a:rPr>
              <a:t>03  الميزات الرئيسية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65760" y="8686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868680"/>
            <a:ext cx="19202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1005840"/>
            <a:ext cx="676656" cy="676656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10058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746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المصادقة المتعددة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Google, Apple, GitHub, Azure AD, Firebase, بريد إلكتروني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68880" y="8686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86868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90672" y="1005840"/>
            <a:ext cx="676656" cy="676656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10058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1746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مساحة الشركة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لوحة تحكم، فريق عمل، هيكل تنظيمي، غرفة اجتماعات مباشرة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8686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86868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93792" y="1005840"/>
            <a:ext cx="676656" cy="676656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10058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1746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إدارة المهام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مهام + مشاريع + تسليم العمل + صفقات + CRM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8686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86868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96912" y="1005840"/>
            <a:ext cx="676656" cy="676656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10058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1746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التواصل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دردشة مباشرة، اجتماعات، مكالمات، قنوات، WebSocket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260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926080"/>
            <a:ext cx="19202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" y="3063240"/>
            <a:ext cx="676656" cy="676656"/>
          </a:xfrm>
          <a:prstGeom prst="ellipse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30632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المحتوى الاجتماعي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4114800"/>
            <a:ext cx="19202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منشورات، قصص، استكشاف، متابعة، سوق العمل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68880" y="29260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68880" y="292608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90672" y="3063240"/>
            <a:ext cx="676656" cy="676656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0672" y="30632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46888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الذكاء الاصطناعي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468880" y="4114800"/>
            <a:ext cx="19202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محادثة AI، استخراج مهام/معاملات، RAG، توثيق ذكي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29260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0" y="292608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93792" y="3063240"/>
            <a:ext cx="676656" cy="676656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93792" y="30632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الفوترة والاشتراكات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0" y="4114800"/>
            <a:ext cx="19202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Stripe + 3 خطط + تجربة مجانية + دعم VAT الإمارات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9260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675120" y="2926080"/>
            <a:ext cx="19202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96912" y="3063240"/>
            <a:ext cx="676656" cy="676656"/>
          </a:xfrm>
          <a:prstGeom prst="ellipse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96912" y="306324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i18n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7512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</a:rPr>
              <a:t>متعدد اللغات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75120" y="4114800"/>
            <a:ext cx="19202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عربي، إنجليزي، فرنسي، إسباني، هندي — RTL كامل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  التقنيات المستخدمة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20040" y="822960"/>
            <a:ext cx="4023360" cy="2011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822960"/>
            <a:ext cx="40233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932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📱  Mobile Frontend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13350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React Native 0.81.5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609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Expo SDK 54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TypeScript 5.9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157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React 19.1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4323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React Navigation v7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13350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New Architecture (Fabric)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1609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Hermes Engine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i18next (5 langs)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2157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Reanimated 4.x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822960"/>
            <a:ext cx="4023360" cy="2011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822960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326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Backend 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13350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FastAPI (Python 3.11+)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609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SQLAlchemy 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Alembic migrations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157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Pydantic v2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13350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SQLite (dev) / PostgreSQL (prod)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1609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JWT Auth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CORS + Audit Middleware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2157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Sentry monitoring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2971800"/>
            <a:ext cx="4023360" cy="2011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2971800"/>
            <a:ext cx="4023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0815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 Web Frontend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34838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Next.js 14 App Router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37581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Tailwind CSS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0325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Stripe Elements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377440" y="34838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Arabic RTL (dir=rtl)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77440" y="37581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Tajawal font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77440" y="40325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Dark mode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2971800"/>
            <a:ext cx="4023360" cy="2011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297180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0815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☁️  External Services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46320" y="34838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Stripe (subscriptions)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37581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Firebase (OAuth)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0" y="40325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Daily.co (video)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66560" y="34838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SendGrid (email)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66560" y="37581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Azure Blob (storage)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6560" y="40325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Sentry (errors)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نظام الذكاء الاصطناعي — ثلاثة مستويات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7472" y="822960"/>
            <a:ext cx="2651760" cy="4069080"/>
          </a:xfrm>
          <a:prstGeom prst="rect">
            <a:avLst/>
          </a:prstGeom>
          <a:solidFill>
            <a:srgbClr val="13203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822960"/>
            <a:ext cx="265176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987552"/>
            <a:ext cx="82296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987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Tier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المهام المعقدة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Anthropic Claude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claude-sonnet-4-20250514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23774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77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 Cases: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697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تحليل عميق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توليد وثائق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استدلال متقدم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محادثة ذكية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27832" y="822960"/>
            <a:ext cx="2651760" cy="4069080"/>
          </a:xfrm>
          <a:prstGeom prst="rect">
            <a:avLst/>
          </a:prstGeom>
          <a:solidFill>
            <a:srgbClr val="1320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27832" y="822960"/>
            <a:ext cx="26517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987552"/>
            <a:ext cx="822960" cy="2743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987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Tier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الاستجابة السريعة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3756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Ollama (Local)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llama3.2:3b + qwen2.5:7b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2286000"/>
            <a:ext cx="23774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377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 Cases: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2697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استخراج المهام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3154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تحليل النصوص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3756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استخراج المعاملات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37560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تلخيص الملاحظات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08192" y="822960"/>
            <a:ext cx="2651760" cy="4069080"/>
          </a:xfrm>
          <a:prstGeom prst="rect">
            <a:avLst/>
          </a:prstGeom>
          <a:solidFill>
            <a:srgbClr val="1320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08192" y="822960"/>
            <a:ext cx="2651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987552"/>
            <a:ext cx="82296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987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Tier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نموذج مخصص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17920" y="1691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HuggingFace + LoRA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792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Qwen2.5-7B (Fine-tuned)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2286000"/>
            <a:ext cx="23774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2377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 Cases: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2697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تدريب على بيانات المنصة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17920" y="31546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نماذج عربية متخصصة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3611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AceGPT / ALLaM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17920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› ChromaDB RAG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" y="4727448"/>
            <a:ext cx="7315200" cy="292608"/>
          </a:xfrm>
          <a:prstGeom prst="rect">
            <a:avLst/>
          </a:prstGeom>
          <a:solidFill>
            <a:srgbClr val="1320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4727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RAG System: ChromaDB + nomic-embed-text  |  Workspace-isolated vector search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</a:rPr>
              <a:t>06  البنية التحتية — Architecture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777240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777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Mobile App  +  Web App  +  End 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325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1463040"/>
            <a:ext cx="544982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1463040"/>
            <a:ext cx="109728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1463040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API Gateway  ·  CORS  ·  JWT Auth  ·  Audit Middleware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2011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148840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148840"/>
            <a:ext cx="10972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148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FastAPI Routers (33 endpoints) — Auth · Companies · Posts · AI · Billing · Meetings · ...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2697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2834640"/>
            <a:ext cx="544982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2834640"/>
            <a:ext cx="10972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2834640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SQLAlchemy ORM  ·  42 Models  ·  Alembic Migrations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383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20440"/>
            <a:ext cx="10972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520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SQLite (Dev)  /  PostgreSQL (Prod)  ·  Azure Blob Storage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749808"/>
            <a:ext cx="2377440" cy="33375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749808"/>
            <a:ext cx="23774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822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External Services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1207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  · Stripe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1463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  · Firebase Auth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  · Anthropic Claude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19751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  · Ollama (local)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46520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  · Daily.co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2487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  · SendGrid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27432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  · Azure Blob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29992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  · Sentry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07  خطط الاشتراك والأسعار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20040" y="868680"/>
            <a:ext cx="1965960" cy="3977640"/>
          </a:xfrm>
          <a:prstGeom prst="rect">
            <a:avLst/>
          </a:prstGeom>
          <a:solidFill>
            <a:srgbClr val="132038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868680"/>
            <a:ext cx="19659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33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المبتدئ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1271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Starter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1508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$30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0040" y="2103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313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A5E9"/>
                </a:solidFill>
              </a:rPr>
              <a:t>$300/yr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87752"/>
            <a:ext cx="1691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609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👥 5 موظفين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8803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💾 10 GB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1729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CRM أساسي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AI محادثة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مهام + مشاريع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078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اجتماعات فيديو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453128"/>
            <a:ext cx="1783080" cy="256032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453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14-day free trial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749808"/>
            <a:ext cx="1965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7498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الأكثر شيوعاً  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1024128"/>
            <a:ext cx="1965960" cy="3886200"/>
          </a:xfrm>
          <a:prstGeom prst="rect">
            <a:avLst/>
          </a:prstGeom>
          <a:solidFill>
            <a:srgbClr val="132038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1024128"/>
            <a:ext cx="19659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11887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المحترف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68880" y="14264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Professional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68880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$90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2468880" y="22585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/mo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$900/yr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2743200"/>
            <a:ext cx="1691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28163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👥 15 موظفين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68880" y="303580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💾 50 GB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0" y="3328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كل مزايا Starter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60320" y="3630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API access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6032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تحليلات متقدمة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0" y="42336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أولوية دعم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17720" y="868680"/>
            <a:ext cx="1965960" cy="3977640"/>
          </a:xfrm>
          <a:prstGeom prst="rect">
            <a:avLst/>
          </a:prstGeom>
          <a:solidFill>
            <a:srgbClr val="1320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868680"/>
            <a:ext cx="1965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1033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الأعمال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617720" y="1271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Business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17720" y="1508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$210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4617720" y="2103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/mo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17720" y="2313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$2,100/yr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2587752"/>
            <a:ext cx="1691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26609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👥 32 موظفين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17720" y="28803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💾 200 GB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09160" y="31729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كل مزايا Professional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0916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SSO / Azure AD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0916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سجل التدقيق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09160" y="4078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مدير حساب مخصص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6560" y="868680"/>
            <a:ext cx="1965960" cy="3977640"/>
          </a:xfrm>
          <a:prstGeom prst="rect">
            <a:avLst/>
          </a:prstGeom>
          <a:solidFill>
            <a:srgbClr val="1320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766560" y="86868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0" y="1033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المؤسسات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766560" y="1271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Enterprise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766560" y="1508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6766560" y="2313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تسعير مخصص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03720" y="2587752"/>
            <a:ext cx="16916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0" y="26609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👥 33+ موظفين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766560" y="28803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💾 Unlimited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858000" y="31729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33+ موظف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85800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تدريب مخصص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85800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SLA مضمون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58000" y="4078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تهيئة كاملة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* جميع الأسعار بدون ضريبة القيمة المضافة (VAT 5% في دولة الإمارات العربية المتحدة) · خصم 17% للخطط السنوية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</a:rPr>
              <a:t>08  قاعدة البيانات والمقاييس</a:t>
            </a:r>
            <a:endParaRPr lang="en-US" sz="2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" y="77724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457200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0"/>
                </a:solidFill>
              </a:rPr>
              <a:t>مقاييس المشروع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0" y="1234440"/>
            <a:ext cx="4114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34440"/>
            <a:ext cx="73152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1234440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42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440680" y="123444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إجمالي نماذج البيانات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0" y="1828800"/>
            <a:ext cx="4114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1828800"/>
            <a:ext cx="73152" cy="5212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1828800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161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5440680" y="182880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ملفات TypeScript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0" y="2423160"/>
            <a:ext cx="4114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0" y="2423160"/>
            <a:ext cx="73152" cy="5212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2423160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69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440680" y="242316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شاشات الجوال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0" y="3017520"/>
            <a:ext cx="4114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0" y="3017520"/>
            <a:ext cx="73152" cy="521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017520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33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5440680" y="301752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مسارات API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0" y="3611880"/>
            <a:ext cx="4114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0" y="3611880"/>
            <a:ext cx="73152" cy="5212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3611880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</a:rPr>
              <a:t>8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5440680" y="361188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خدمات AI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72000" y="4206240"/>
            <a:ext cx="4114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0" y="4206240"/>
            <a:ext cx="73152" cy="5212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4206240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18+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5440680" y="4206240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قوالب البريد الإلكتروني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365760" y="4297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توزيع نماذج قاعدة البيانات (42 نموذج)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09  حالة المشروع — Project Status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0040" y="804672"/>
            <a:ext cx="2743200" cy="4069080"/>
          </a:xfrm>
          <a:prstGeom prst="rect">
            <a:avLst/>
          </a:prstGeom>
          <a:solidFill>
            <a:srgbClr val="1320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804672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9144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 مكتمل ويعمل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المصادقة متعددة الطرق (6 مزودين)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16733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ملف المستخدم، المتابعين، المنشورات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2020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القصص + البث المباشر (badge)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3682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مساحة الشركة + الهيكل التنظيمي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27157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المهام + التسليمات + الصفقات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" y="3063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المحادثات + الاجتماعات + المكالمات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410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AI Compose (استخراج + تأكيد)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37581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الاشتراكات (Stripe Webhooks)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41056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نظام AI ثلاثي المستويات (البنية التحتية)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4453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5 لغات + وضع داكن/فاتح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804672"/>
            <a:ext cx="2743200" cy="4069080"/>
          </a:xfrm>
          <a:prstGeom prst="rect">
            <a:avLst/>
          </a:prstGeom>
          <a:solidFill>
            <a:srgbClr val="1320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804672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9144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⚠️  جزئي / قيد التطوير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Daily.co (يتطلب API key في البيئة)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1568" y="16733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Stripe Checkout (UI بدون redirect)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01568" y="2020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الإشعارات الفورية (مسار محدود)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01568" y="23682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تغيير كلمة المرور (واجهة فقط)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01568" y="27157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نقاط AI (12 نقطة — 501 stubbed)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804672"/>
            <a:ext cx="2743200" cy="4069080"/>
          </a:xfrm>
          <a:prstGeom prst="rect">
            <a:avLst/>
          </a:prstGeom>
          <a:solidFill>
            <a:srgbClr val="1320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804672"/>
            <a:ext cx="27432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9144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لم يُنفَّذ بعد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73368" y="1325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SendGrid (غير مُدمج بعد)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73368" y="16733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Android build عبر EAS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73368" y="20208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مجموعة اختبارات شاملة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73368" y="23682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تحليلات (Mixpanel/Sentry)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73368" y="27157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· Supabase / Real-time streaming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64008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64008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64008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64008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64008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</a:rPr>
              <a:t>10  خارطة الطريق — Roadmap 2026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1298448"/>
            <a:ext cx="768096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" y="117043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804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Q2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الإطلاق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169164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16916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" y="18745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إصلاح النقاط الحرجة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" y="25146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تنشيط Stripe Checkout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" y="31546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دمج SendGrid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" y="37947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" y="37673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Android build أول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73552" y="1170432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804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Q3 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النمو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169164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14600" y="1691640"/>
            <a:ext cx="19202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79192" y="18745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16936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تنشيط AI endpoints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79192" y="251460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16936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نظام RAG كامل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79192" y="315468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6936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تدريب Custom model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79192" y="379476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16936" y="37673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تحليلات + Sentry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6672" y="1170432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804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Q4 2026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54880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التوسع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169164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17720" y="169164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82312" y="18745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نشر منصة الويب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82312" y="2514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0056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دعم عملاء المؤسسات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82312" y="31546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0056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API عام للمطورين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82312" y="37947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0056" y="37673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اختبارات شاملة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79792" y="117043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804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Q1 2027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58000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المستقبل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720840" y="169164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720840" y="169164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85432" y="18745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23176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نموذج AI مخصص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85432" y="2514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23176" y="2487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سوق المكونات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885432" y="31546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23176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شراكات استراتيجية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85432" y="3794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23176" y="37673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توسع إقليمي (GCC)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152144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0"/>
            <a:ext cx="1152144" cy="73152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1152144" cy="73152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1152144" cy="73152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1152144" cy="73152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0"/>
            <a:ext cx="115214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1152144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0"/>
            <a:ext cx="1152144" cy="73152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3931920" y="64008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4297680" y="640080"/>
            <a:ext cx="4572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4114800" y="457200"/>
            <a:ext cx="45720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</a:rPr>
              <a:t>ALLOUL&amp;Q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14400" y="2148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</a:rPr>
              <a:t>منصة الأعمال الذكية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The Intelligent Business Platform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28800" y="3154680"/>
            <a:ext cx="694944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3154680"/>
            <a:ext cx="694944" cy="4572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154680"/>
            <a:ext cx="694944" cy="4572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6200" y="3154680"/>
            <a:ext cx="694944" cy="4572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154680"/>
            <a:ext cx="694944" cy="4572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3154680"/>
            <a:ext cx="69494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154680"/>
            <a:ext cx="694944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3154680"/>
            <a:ext cx="694944" cy="4572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B8A6"/>
                </a:solidFill>
              </a:rPr>
              <a:t>alloul.app  ·  manhaile6@gmail.com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React Native · FastAPI · Next.js · AI-Powered · Arabic RTL · Multi-Language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297680"/>
            <a:ext cx="1572768" cy="347472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97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iOS &amp; Android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29968" y="4297680"/>
            <a:ext cx="1572768" cy="347472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9968" y="4297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Web App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39896" y="4297680"/>
            <a:ext cx="1572768" cy="347472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9896" y="4297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REST 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9824" y="4297680"/>
            <a:ext cx="1572768" cy="347472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4297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AI System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59752" y="4297680"/>
            <a:ext cx="1572768" cy="347472"/>
          </a:xfrm>
          <a:prstGeom prst="rect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9752" y="42976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Subscription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5047488"/>
            <a:ext cx="1152144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0" y="5047488"/>
            <a:ext cx="1152144" cy="91440"/>
          </a:xfrm>
          <a:prstGeom prst="rect">
            <a:avLst/>
          </a:prstGeom>
          <a:solidFill>
            <a:srgbClr val="0CA5DC"/>
          </a:solidFill>
          <a:ln w="12700">
            <a:solidFill>
              <a:srgbClr val="0CA5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047488"/>
            <a:ext cx="1152144" cy="91440"/>
          </a:xfrm>
          <a:prstGeom prst="rect">
            <a:avLst/>
          </a:prstGeom>
          <a:solidFill>
            <a:srgbClr val="0BA5CF"/>
          </a:solidFill>
          <a:ln w="12700">
            <a:solidFill>
              <a:srgbClr val="0BA5C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29000" y="5047488"/>
            <a:ext cx="1152144" cy="91440"/>
          </a:xfrm>
          <a:prstGeom prst="rect">
            <a:avLst/>
          </a:prstGeom>
          <a:solidFill>
            <a:srgbClr val="0DA5BC"/>
          </a:solidFill>
          <a:ln w="12700">
            <a:solidFill>
              <a:srgbClr val="0DA5B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5047488"/>
            <a:ext cx="1152144" cy="91440"/>
          </a:xfrm>
          <a:prstGeom prst="rect">
            <a:avLst/>
          </a:prstGeom>
          <a:solidFill>
            <a:srgbClr val="0D9499"/>
          </a:solidFill>
          <a:ln w="12700">
            <a:solidFill>
              <a:srgbClr val="0D94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15000" y="5047488"/>
            <a:ext cx="115214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0" y="5047488"/>
            <a:ext cx="115214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01000" y="5047488"/>
            <a:ext cx="1152144" cy="91440"/>
          </a:xfrm>
          <a:prstGeom prst="rect">
            <a:avLst/>
          </a:prstGeom>
          <a:solidFill>
            <a:srgbClr val="10C987"/>
          </a:solidFill>
          <a:ln w="12700">
            <a:solidFill>
              <a:srgbClr val="10C98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ALLOUL&amp;Q — Project Presentation</dc:title>
  <dc:subject>PptxGenJS Presentation</dc:subject>
  <dc:creator>ALLOUL&amp;Q Team</dc:creator>
  <cp:lastModifiedBy>ALLOUL&amp;Q Team</cp:lastModifiedBy>
  <cp:revision>1</cp:revision>
  <dcterms:created xsi:type="dcterms:W3CDTF">2026-04-13T23:10:15Z</dcterms:created>
  <dcterms:modified xsi:type="dcterms:W3CDTF">2026-04-13T23:10:15Z</dcterms:modified>
</cp:coreProperties>
</file>